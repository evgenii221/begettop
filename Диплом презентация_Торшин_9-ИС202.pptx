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10"/>
  </p:normalViewPr>
  <p:slideViewPr>
    <p:cSldViewPr snapToGrid="0" snapToObjects="1">
      <p:cViewPr>
        <p:scale>
          <a:sx n="161" d="100"/>
          <a:sy n="161" d="100"/>
        </p:scale>
        <p:origin x="12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844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7453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6072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7585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2603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6159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4436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5311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0364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496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8176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3323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31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1FCCB-F275-40B2-883D-C303143EF3CB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CEFA5-027E-4BB1-968A-1CDC5D14D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9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 flipV="1">
            <a:off x="0" y="4808162"/>
            <a:ext cx="9144000" cy="45719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864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199" y="3898831"/>
            <a:ext cx="3331029" cy="45719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1" name="Text 9"/>
          <p:cNvSpPr/>
          <p:nvPr/>
        </p:nvSpPr>
        <p:spPr>
          <a:xfrm>
            <a:off x="404236" y="394405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4236" y="4089865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Торшин Евгений Алексеевич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4236" y="4320803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гр. 9-ИС202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7216" y="659141"/>
            <a:ext cx="7428015" cy="2863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r>
              <a:rPr lang="ru-RU" sz="2800" dirty="0"/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веб-приложения</a:t>
            </a:r>
            <a:r>
              <a:rPr lang="ru-RU" sz="2800" dirty="0" smtClean="0"/>
              <a:t> </a:t>
            </a:r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лектронной</a:t>
            </a:r>
            <a:r>
              <a:rPr lang="ru-RU" sz="2800" dirty="0" smtClean="0"/>
              <a:t> </a:t>
            </a:r>
            <a:r>
              <a:rPr lang="ru-RU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оммерции</a:t>
            </a:r>
            <a:r>
              <a:rPr lang="ru-RU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</a:t>
            </a:r>
            <a:r>
              <a:rPr lang="en-US" sz="28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ля</a:t>
            </a:r>
            <a:r>
              <a:rPr lang="en-US" sz="2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реализации</a:t>
            </a:r>
            <a:r>
              <a:rPr lang="en-US" sz="2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продукции</a:t>
            </a:r>
            <a:r>
              <a:rPr lang="en-US" sz="2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i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российских</a:t>
            </a:r>
            <a:r>
              <a:rPr lang="ru-RU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i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брендов</a:t>
            </a:r>
            <a:r>
              <a:rPr lang="en-US" sz="2800" b="1" i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уличной</a:t>
            </a:r>
            <a:r>
              <a:rPr lang="en-US" sz="2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одежды</a:t>
            </a:r>
            <a:endParaRPr lang="en-US" sz="2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04236" y="44912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Науч. рук.: Латышева Р. Р.  </a:t>
            </a:r>
            <a:endParaRPr lang="en-US" sz="10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678" y="77367"/>
            <a:ext cx="2558643" cy="8399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864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/>
          <a:effectLst>
            <a:outerShdw blurRad="254000" dist="50800" dir="2700000" algn="bl" rotWithShape="0">
              <a:srgbClr val="7C3AED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588515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и программная реализация интернет-магазина одежды с динамическим каталогом, корзиной, оформлением заказа, личным кабинетом и административной панелью.</a:t>
            </a:r>
            <a:endParaRPr lang="en-US" dirty="0"/>
          </a:p>
        </p:txBody>
      </p:sp>
      <p:sp>
        <p:nvSpPr>
          <p:cNvPr id="24" name="Shape 4"/>
          <p:cNvSpPr/>
          <p:nvPr/>
        </p:nvSpPr>
        <p:spPr>
          <a:xfrm>
            <a:off x="457200" y="96012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25" name="Text 6"/>
          <p:cNvSpPr/>
          <p:nvPr/>
        </p:nvSpPr>
        <p:spPr>
          <a:xfrm>
            <a:off x="640080" y="1115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2000" dirty="0"/>
          </a:p>
        </p:txBody>
      </p:sp>
      <p:sp>
        <p:nvSpPr>
          <p:cNvPr id="26" name="Text 8"/>
          <p:cNvSpPr/>
          <p:nvPr/>
        </p:nvSpPr>
        <p:spPr>
          <a:xfrm>
            <a:off x="640080" y="1627632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— главный канал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 одежды</a:t>
            </a:r>
            <a:endParaRPr lang="en-US" dirty="0"/>
          </a:p>
        </p:txBody>
      </p:sp>
      <p:sp>
        <p:nvSpPr>
          <p:cNvPr id="27" name="Shape 9"/>
          <p:cNvSpPr/>
          <p:nvPr/>
        </p:nvSpPr>
        <p:spPr>
          <a:xfrm>
            <a:off x="3291840" y="96012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28" name="Text 11"/>
          <p:cNvSpPr/>
          <p:nvPr/>
        </p:nvSpPr>
        <p:spPr>
          <a:xfrm>
            <a:off x="3474720" y="1115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Бренды</a:t>
            </a:r>
            <a:endParaRPr lang="en-US" sz="2000" dirty="0"/>
          </a:p>
        </p:txBody>
      </p:sp>
      <p:sp>
        <p:nvSpPr>
          <p:cNvPr id="29" name="Text 13"/>
          <p:cNvSpPr/>
          <p:nvPr/>
        </p:nvSpPr>
        <p:spPr>
          <a:xfrm>
            <a:off x="3474720" y="1627632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площадка вместо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маркетплейсов</a:t>
            </a:r>
            <a:endParaRPr lang="en-US" dirty="0"/>
          </a:p>
        </p:txBody>
      </p:sp>
      <p:sp>
        <p:nvSpPr>
          <p:cNvPr id="33" name="Shape 14"/>
          <p:cNvSpPr/>
          <p:nvPr/>
        </p:nvSpPr>
        <p:spPr>
          <a:xfrm>
            <a:off x="6126480" y="96012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/>
        </p:spPr>
      </p:sp>
      <p:sp>
        <p:nvSpPr>
          <p:cNvPr id="34" name="Text 16"/>
          <p:cNvSpPr/>
          <p:nvPr/>
        </p:nvSpPr>
        <p:spPr>
          <a:xfrm>
            <a:off x="6309360" y="1115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</a:t>
            </a:r>
            <a:endParaRPr lang="en-US" sz="2000" dirty="0"/>
          </a:p>
        </p:txBody>
      </p:sp>
      <p:sp>
        <p:nvSpPr>
          <p:cNvPr id="35" name="Shape 17"/>
          <p:cNvSpPr/>
          <p:nvPr/>
        </p:nvSpPr>
        <p:spPr>
          <a:xfrm>
            <a:off x="6309360" y="1440180"/>
            <a:ext cx="2286000" cy="27432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6" name="Text 18"/>
          <p:cNvSpPr/>
          <p:nvPr/>
        </p:nvSpPr>
        <p:spPr>
          <a:xfrm>
            <a:off x="6309360" y="1627632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Размер, корзина, заказ —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 одном месте</a:t>
            </a:r>
            <a:endParaRPr lang="en-US" dirty="0"/>
          </a:p>
        </p:txBody>
      </p:sp>
      <p:sp>
        <p:nvSpPr>
          <p:cNvPr id="37" name="Shape 17"/>
          <p:cNvSpPr/>
          <p:nvPr/>
        </p:nvSpPr>
        <p:spPr>
          <a:xfrm>
            <a:off x="3429000" y="1435608"/>
            <a:ext cx="2286000" cy="27432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8" name="Shape 17"/>
          <p:cNvSpPr/>
          <p:nvPr/>
        </p:nvSpPr>
        <p:spPr>
          <a:xfrm>
            <a:off x="502920" y="1429967"/>
            <a:ext cx="2286000" cy="27432"/>
          </a:xfrm>
          <a:prstGeom prst="rect">
            <a:avLst/>
          </a:prstGeom>
          <a:solidFill>
            <a:srgbClr val="25252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864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Объект, предмет и задачи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" y="957619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исследования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244193"/>
            <a:ext cx="4160520" cy="818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разработки и функционирования веб-приложений электронной коммерции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0620" y="9337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 исследования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298448"/>
            <a:ext cx="3804260" cy="732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Методы, средства и технологии разработки интерактивного интернет-магазина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1265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1480" y="2432304"/>
            <a:ext cx="8229600" cy="530352"/>
          </a:xfrm>
          <a:prstGeom prst="roundRect">
            <a:avLst>
              <a:gd name="adj" fmla="val 15909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495080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658618"/>
            <a:ext cx="7543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требования к интернет-магазинам одежды и ключевые пользовательские сценарии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11480" y="3035808"/>
            <a:ext cx="8229600" cy="402336"/>
          </a:xfrm>
          <a:prstGeom prst="roundRect">
            <a:avLst>
              <a:gd name="adj" fmla="val 15909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035808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090672"/>
            <a:ext cx="754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Обосновать выбор стека технологий: HTML5, CSS3, JavaScript, PHP и MySQL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11480" y="3512706"/>
            <a:ext cx="8229600" cy="472846"/>
          </a:xfrm>
          <a:prstGeom prst="roundRect">
            <a:avLst>
              <a:gd name="adj" fmla="val 15909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521390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620904"/>
            <a:ext cx="7543800" cy="2209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структуру базы данных для товаров, заказов и личного кабинета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11480" y="4050792"/>
            <a:ext cx="8229600" cy="468020"/>
          </a:xfrm>
          <a:prstGeom prst="roundRect">
            <a:avLst>
              <a:gd name="adj" fmla="val 15909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050792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4746" y="4233552"/>
            <a:ext cx="6748747" cy="7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каталог, карточку товара, выбор размера, корзину и оформление заказа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11480" y="4604004"/>
            <a:ext cx="8229600" cy="461772"/>
          </a:xfrm>
          <a:prstGeom prst="roundRect">
            <a:avLst>
              <a:gd name="adj" fmla="val 15909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4340" y="461191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732035"/>
            <a:ext cx="7543800" cy="184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пользовательскую часть, административную панель, адаптивность и безопасность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864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реализации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" y="1170432"/>
            <a:ext cx="934826" cy="21945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9" name="Text 7"/>
          <p:cNvSpPr/>
          <p:nvPr/>
        </p:nvSpPr>
        <p:spPr>
          <a:xfrm>
            <a:off x="642218" y="113842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5216" y="1463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" y="1792224"/>
            <a:ext cx="173736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страниц: каталог, карточки, формы, личный кабинет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78608" y="100584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06624" y="1463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06624" y="184026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Flexbox/Grid, адаптивность, анимации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0016" y="100584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1463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28032" y="187452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Корзина, выбор размера, фильтрация, AJAX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21424" y="100584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1463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187452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Временное хранение корзины в браузере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5216" y="3136392"/>
            <a:ext cx="934826" cy="26517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33" name="Text 31"/>
          <p:cNvSpPr/>
          <p:nvPr/>
        </p:nvSpPr>
        <p:spPr>
          <a:xfrm>
            <a:off x="528808" y="3115729"/>
            <a:ext cx="10476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85216" y="3429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5216" y="38404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заказов, сессии, авторизация, роли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578608" y="297180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06624" y="3429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706624" y="38404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товаров, заказов и аккаунтов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00016" y="297180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28032" y="3429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828032" y="38404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Подготовленные запросы, безопасность БД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21424" y="2971800"/>
            <a:ext cx="1993392" cy="1783080"/>
          </a:xfrm>
          <a:prstGeom prst="roundRect">
            <a:avLst>
              <a:gd name="adj" fmla="val 5128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949440" y="3429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AJAX/HTTP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49440" y="38404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данными между клиентом и сервером</a:t>
            </a:r>
            <a:endParaRPr lang="en-US" sz="1600" dirty="0"/>
          </a:p>
        </p:txBody>
      </p:sp>
      <p:sp>
        <p:nvSpPr>
          <p:cNvPr id="56" name="Shape 6"/>
          <p:cNvSpPr/>
          <p:nvPr/>
        </p:nvSpPr>
        <p:spPr>
          <a:xfrm>
            <a:off x="2722775" y="1170432"/>
            <a:ext cx="934826" cy="21945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57" name="Text 7"/>
          <p:cNvSpPr/>
          <p:nvPr/>
        </p:nvSpPr>
        <p:spPr>
          <a:xfrm>
            <a:off x="2779777" y="1138428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dirty="0"/>
          </a:p>
        </p:txBody>
      </p:sp>
      <p:sp>
        <p:nvSpPr>
          <p:cNvPr id="59" name="Shape 6"/>
          <p:cNvSpPr/>
          <p:nvPr/>
        </p:nvSpPr>
        <p:spPr>
          <a:xfrm>
            <a:off x="4837534" y="1174054"/>
            <a:ext cx="934826" cy="21945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60" name="Text 7"/>
          <p:cNvSpPr/>
          <p:nvPr/>
        </p:nvSpPr>
        <p:spPr>
          <a:xfrm>
            <a:off x="4894536" y="114205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dirty="0"/>
          </a:p>
        </p:txBody>
      </p:sp>
      <p:sp>
        <p:nvSpPr>
          <p:cNvPr id="61" name="Shape 6"/>
          <p:cNvSpPr/>
          <p:nvPr/>
        </p:nvSpPr>
        <p:spPr>
          <a:xfrm>
            <a:off x="6949440" y="1174054"/>
            <a:ext cx="934826" cy="21945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62" name="Text 7"/>
          <p:cNvSpPr/>
          <p:nvPr/>
        </p:nvSpPr>
        <p:spPr>
          <a:xfrm>
            <a:off x="7006442" y="1142050"/>
            <a:ext cx="877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dirty="0"/>
          </a:p>
        </p:txBody>
      </p:sp>
      <p:sp>
        <p:nvSpPr>
          <p:cNvPr id="63" name="Shape 30"/>
          <p:cNvSpPr/>
          <p:nvPr/>
        </p:nvSpPr>
        <p:spPr>
          <a:xfrm>
            <a:off x="2763032" y="3120123"/>
            <a:ext cx="934826" cy="26517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64" name="Text 31"/>
          <p:cNvSpPr/>
          <p:nvPr/>
        </p:nvSpPr>
        <p:spPr>
          <a:xfrm>
            <a:off x="2706624" y="3099460"/>
            <a:ext cx="10476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dirty="0"/>
          </a:p>
        </p:txBody>
      </p:sp>
      <p:sp>
        <p:nvSpPr>
          <p:cNvPr id="65" name="Shape 30"/>
          <p:cNvSpPr/>
          <p:nvPr/>
        </p:nvSpPr>
        <p:spPr>
          <a:xfrm>
            <a:off x="4884440" y="3129623"/>
            <a:ext cx="934826" cy="26517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66" name="Text 31"/>
          <p:cNvSpPr/>
          <p:nvPr/>
        </p:nvSpPr>
        <p:spPr>
          <a:xfrm>
            <a:off x="4828032" y="3108960"/>
            <a:ext cx="10476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dirty="0"/>
          </a:p>
        </p:txBody>
      </p:sp>
      <p:sp>
        <p:nvSpPr>
          <p:cNvPr id="67" name="Shape 30"/>
          <p:cNvSpPr/>
          <p:nvPr/>
        </p:nvSpPr>
        <p:spPr>
          <a:xfrm>
            <a:off x="6996289" y="3108604"/>
            <a:ext cx="934826" cy="265176"/>
          </a:xfrm>
          <a:prstGeom prst="roundRect">
            <a:avLst>
              <a:gd name="adj" fmla="val 25000"/>
            </a:avLst>
          </a:prstGeom>
          <a:solidFill>
            <a:srgbClr val="252525"/>
          </a:solidFill>
          <a:ln/>
        </p:spPr>
      </p:sp>
      <p:sp>
        <p:nvSpPr>
          <p:cNvPr id="68" name="Text 31"/>
          <p:cNvSpPr/>
          <p:nvPr/>
        </p:nvSpPr>
        <p:spPr>
          <a:xfrm>
            <a:off x="6939881" y="3087941"/>
            <a:ext cx="10476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864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база данных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Клиент-серверная архитектура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7C3AED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3167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/ Администратор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16184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взаимодействует через браузер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86000" y="1961388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3055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Клиентская часть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· LocalStorage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2850315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02666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логика — PHP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" y="3410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валидация, сессии, роли, расчёт суммы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86000" y="3758184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92277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— MySQL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" y="43068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товары, заказы, аккаунты — через PDO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82312" y="86891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таблицы БД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846320" y="12344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83480" y="14356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1426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67528" y="121615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67528" y="163677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· бренд · цена · фото · размеры · наличие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46320" y="213055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3480" y="23317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322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67528" y="2057519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customer_accounts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67528" y="2532888"/>
            <a:ext cx="363931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· хеш пароля · </a:t>
            </a:r>
            <a:r>
              <a:rPr lang="en-US" sz="2000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контактные</a:t>
            </a:r>
            <a:r>
              <a:rPr lang="en-US" sz="2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846320" y="302666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83480" y="322783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218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67528" y="298551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367528" y="337437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· покупатель · сумма · статус · дата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846320" y="392277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83480" y="41239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67528" y="388738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367528" y="4325112"/>
            <a:ext cx="3383280" cy="13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· размер · количество · цена позиции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17720" y="914400"/>
            <a:ext cx="27432" cy="3931920"/>
          </a:xfrm>
          <a:prstGeom prst="rect">
            <a:avLst/>
          </a:prstGeom>
          <a:solidFill>
            <a:srgbClr val="252525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864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вёрстка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80388" y="8046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Компьютерная версия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108" y="1143000"/>
            <a:ext cx="5303520" cy="3108960"/>
          </a:xfrm>
          <a:prstGeom prst="roundRect">
            <a:avLst>
              <a:gd name="adj" fmla="val 4412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371600"/>
            <a:ext cx="5029200" cy="2670048"/>
          </a:xfrm>
          <a:prstGeom prst="roundRect">
            <a:avLst>
              <a:gd name="adj" fmla="val 2740"/>
            </a:avLst>
          </a:prstGeom>
          <a:solidFill>
            <a:srgbClr val="0A0A0A"/>
          </a:solidFill>
          <a:ln/>
        </p:spPr>
      </p:sp>
      <p:sp>
        <p:nvSpPr>
          <p:cNvPr id="9" name="Shape 7"/>
          <p:cNvSpPr/>
          <p:nvPr/>
        </p:nvSpPr>
        <p:spPr>
          <a:xfrm>
            <a:off x="420268" y="1252728"/>
            <a:ext cx="5029200" cy="25603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627632"/>
            <a:ext cx="5029200" cy="1828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453896"/>
            <a:ext cx="109728" cy="109728"/>
          </a:xfrm>
          <a:prstGeom prst="lin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" y="1453896"/>
            <a:ext cx="109728" cy="109728"/>
          </a:xfrm>
          <a:prstGeom prst="lin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1453896"/>
            <a:ext cx="109728" cy="109728"/>
          </a:xfrm>
          <a:prstGeom prst="line">
            <a:avLst/>
          </a:prstGeom>
          <a:solidFill>
            <a:srgbClr val="28C840"/>
          </a:solidFill>
          <a:ln/>
        </p:spPr>
      </p:sp>
      <p:sp>
        <p:nvSpPr>
          <p:cNvPr id="14" name="Shape 12"/>
          <p:cNvSpPr/>
          <p:nvPr/>
        </p:nvSpPr>
        <p:spPr>
          <a:xfrm>
            <a:off x="1746148" y="1316736"/>
            <a:ext cx="2286000" cy="128016"/>
          </a:xfrm>
          <a:prstGeom prst="roundRect">
            <a:avLst>
              <a:gd name="adj" fmla="val 28571"/>
            </a:avLst>
          </a:prstGeom>
          <a:solidFill>
            <a:srgbClr val="252525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9108" y="4251960"/>
            <a:ext cx="91440" cy="20116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0" name="Shape 38"/>
          <p:cNvSpPr/>
          <p:nvPr/>
        </p:nvSpPr>
        <p:spPr>
          <a:xfrm>
            <a:off x="2157628" y="443484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252525"/>
          </a:solidFill>
          <a:ln/>
        </p:spPr>
      </p:sp>
      <p:sp>
        <p:nvSpPr>
          <p:cNvPr id="41" name="Text 39"/>
          <p:cNvSpPr/>
          <p:nvPr/>
        </p:nvSpPr>
        <p:spPr>
          <a:xfrm>
            <a:off x="5998464" y="353321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версия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6338039" y="678942"/>
            <a:ext cx="1600200" cy="365760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1988" y="1344168"/>
            <a:ext cx="640080" cy="91440"/>
          </a:xfrm>
          <a:prstGeom prst="roundRect">
            <a:avLst>
              <a:gd name="adj" fmla="val 80000"/>
            </a:avLst>
          </a:prstGeom>
          <a:solidFill>
            <a:srgbClr val="1A1A1A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4619757"/>
            <a:ext cx="2633472" cy="507492"/>
          </a:xfrm>
          <a:prstGeom prst="roundRect">
            <a:avLst>
              <a:gd name="adj" fmla="val 24242"/>
            </a:avLst>
          </a:prstGeom>
          <a:solidFill>
            <a:srgbClr val="1A1A1A"/>
          </a:solidFill>
          <a:ln/>
        </p:spPr>
      </p:sp>
      <p:sp>
        <p:nvSpPr>
          <p:cNvPr id="64" name="Text 62"/>
          <p:cNvSpPr/>
          <p:nvPr/>
        </p:nvSpPr>
        <p:spPr>
          <a:xfrm>
            <a:off x="61990" y="4713732"/>
            <a:ext cx="2772650" cy="230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Многоколоночная сетка на широком экране</a:t>
            </a: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3337560" y="4553712"/>
            <a:ext cx="2542032" cy="512064"/>
          </a:xfrm>
          <a:prstGeom prst="roundRect">
            <a:avLst>
              <a:gd name="adj" fmla="val 24242"/>
            </a:avLst>
          </a:prstGeom>
          <a:solidFill>
            <a:srgbClr val="1A1A1A"/>
          </a:solidFill>
          <a:ln/>
        </p:spPr>
      </p:sp>
      <p:sp>
        <p:nvSpPr>
          <p:cNvPr id="67" name="Text 65"/>
          <p:cNvSpPr/>
          <p:nvPr/>
        </p:nvSpPr>
        <p:spPr>
          <a:xfrm>
            <a:off x="3374136" y="4750308"/>
            <a:ext cx="2624328" cy="125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Упрощённая навигация на смартфоне</a:t>
            </a: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6035040" y="4498848"/>
            <a:ext cx="2633472" cy="493776"/>
          </a:xfrm>
          <a:prstGeom prst="roundRect">
            <a:avLst>
              <a:gd name="adj" fmla="val 24242"/>
            </a:avLst>
          </a:prstGeom>
          <a:solidFill>
            <a:srgbClr val="1A1A1A"/>
          </a:solidFill>
          <a:ln/>
        </p:spPr>
      </p:sp>
      <p:sp>
        <p:nvSpPr>
          <p:cNvPr id="70" name="Text 68"/>
          <p:cNvSpPr/>
          <p:nvPr/>
        </p:nvSpPr>
        <p:spPr>
          <a:xfrm>
            <a:off x="6117336" y="4700016"/>
            <a:ext cx="2587752" cy="129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удобна при любой ширине</a:t>
            </a:r>
            <a:endParaRPr lang="en-US" dirty="0"/>
          </a:p>
        </p:txBody>
      </p:sp>
      <p:pic>
        <p:nvPicPr>
          <p:cNvPr id="71" name="Рисунок 7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68" y="1511295"/>
            <a:ext cx="5029200" cy="2530353"/>
          </a:xfrm>
          <a:prstGeom prst="rect">
            <a:avLst/>
          </a:prstGeom>
        </p:spPr>
      </p:pic>
      <p:pic>
        <p:nvPicPr>
          <p:cNvPr id="73" name="Image 1" descr="/mnt/data/slide_asset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039" y="852679"/>
            <a:ext cx="1600200" cy="3136391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магазин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7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8646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 перспективы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работы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206240" cy="731520"/>
          </a:xfrm>
          <a:prstGeom prst="roundRect">
            <a:avLst>
              <a:gd name="adj" fmla="val 11250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1891" y="1371600"/>
            <a:ext cx="39443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интернет-магазин с каталогом и карточками товаров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7200" y="2157984"/>
            <a:ext cx="4206240" cy="731520"/>
          </a:xfrm>
          <a:prstGeom prst="roundRect">
            <a:avLst>
              <a:gd name="adj" fmla="val 11250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81891" y="2267712"/>
            <a:ext cx="39443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корзина, выбор размера и оформление заказа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57200" y="3054096"/>
            <a:ext cx="4206240" cy="731520"/>
          </a:xfrm>
          <a:prstGeom prst="roundRect">
            <a:avLst>
              <a:gd name="adj" fmla="val 11250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81891" y="3163824"/>
            <a:ext cx="39443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Добавлены личный кабинет и административная панель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457200" y="3950208"/>
            <a:ext cx="4206240" cy="731520"/>
          </a:xfrm>
          <a:prstGeom prst="roundRect">
            <a:avLst>
              <a:gd name="adj" fmla="val 11250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81891" y="4059936"/>
            <a:ext cx="394438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Проверены адаптивность, безопасность и надёжность</a:t>
            </a: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4956048" y="932688"/>
            <a:ext cx="27432" cy="393192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0" name="Text 14"/>
          <p:cNvSpPr/>
          <p:nvPr/>
        </p:nvSpPr>
        <p:spPr>
          <a:xfrm>
            <a:off x="5193792" y="932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 развития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5193792" y="1261872"/>
            <a:ext cx="3721608" cy="59436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193792" y="1261872"/>
            <a:ext cx="320040" cy="594360"/>
          </a:xfrm>
          <a:prstGeom prst="roundRect">
            <a:avLst>
              <a:gd name="adj" fmla="val 25714"/>
            </a:avLst>
          </a:prstGeom>
          <a:solidFill>
            <a:srgbClr val="7C3AED"/>
          </a:solidFill>
          <a:ln/>
        </p:spPr>
      </p:sp>
      <p:sp>
        <p:nvSpPr>
          <p:cNvPr id="23" name="Text 17"/>
          <p:cNvSpPr/>
          <p:nvPr/>
        </p:nvSpPr>
        <p:spPr>
          <a:xfrm>
            <a:off x="5193792" y="1261872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14416" y="1389888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онлайн-оплаты</a:t>
            </a: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5193792" y="1984248"/>
            <a:ext cx="3721608" cy="59436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193792" y="1984248"/>
            <a:ext cx="320040" cy="594360"/>
          </a:xfrm>
          <a:prstGeom prst="roundRect">
            <a:avLst>
              <a:gd name="adj" fmla="val 25714"/>
            </a:avLst>
          </a:prstGeom>
          <a:solidFill>
            <a:srgbClr val="7C3AED"/>
          </a:solidFill>
          <a:ln/>
        </p:spPr>
      </p:sp>
      <p:sp>
        <p:nvSpPr>
          <p:cNvPr id="27" name="Text 21"/>
          <p:cNvSpPr/>
          <p:nvPr/>
        </p:nvSpPr>
        <p:spPr>
          <a:xfrm>
            <a:off x="5193792" y="198424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14416" y="2112264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со службами доставки</a:t>
            </a:r>
            <a:endParaRPr lang="en-US" dirty="0"/>
          </a:p>
        </p:txBody>
      </p:sp>
      <p:sp>
        <p:nvSpPr>
          <p:cNvPr id="29" name="Shape 23"/>
          <p:cNvSpPr/>
          <p:nvPr/>
        </p:nvSpPr>
        <p:spPr>
          <a:xfrm>
            <a:off x="5193792" y="2706624"/>
            <a:ext cx="3721608" cy="59436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193792" y="2706624"/>
            <a:ext cx="320040" cy="594360"/>
          </a:xfrm>
          <a:prstGeom prst="roundRect">
            <a:avLst>
              <a:gd name="adj" fmla="val 25714"/>
            </a:avLst>
          </a:prstGeom>
          <a:solidFill>
            <a:srgbClr val="7C3AED"/>
          </a:solidFill>
          <a:ln/>
        </p:spPr>
      </p:sp>
      <p:sp>
        <p:nvSpPr>
          <p:cNvPr id="31" name="Text 25"/>
          <p:cNvSpPr/>
          <p:nvPr/>
        </p:nvSpPr>
        <p:spPr>
          <a:xfrm>
            <a:off x="5193792" y="2706624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614416" y="2834640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Расширенная фильтрация и категории</a:t>
            </a:r>
            <a:endParaRPr lang="en-US" dirty="0"/>
          </a:p>
        </p:txBody>
      </p:sp>
      <p:sp>
        <p:nvSpPr>
          <p:cNvPr id="33" name="Shape 27"/>
          <p:cNvSpPr/>
          <p:nvPr/>
        </p:nvSpPr>
        <p:spPr>
          <a:xfrm>
            <a:off x="5193792" y="3429000"/>
            <a:ext cx="3721608" cy="59436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193792" y="3429000"/>
            <a:ext cx="320040" cy="594360"/>
          </a:xfrm>
          <a:prstGeom prst="roundRect">
            <a:avLst>
              <a:gd name="adj" fmla="val 25714"/>
            </a:avLst>
          </a:prstGeom>
          <a:solidFill>
            <a:srgbClr val="7C3AED"/>
          </a:solidFill>
          <a:ln/>
        </p:spPr>
      </p:sp>
      <p:sp>
        <p:nvSpPr>
          <p:cNvPr id="35" name="Text 29"/>
          <p:cNvSpPr/>
          <p:nvPr/>
        </p:nvSpPr>
        <p:spPr>
          <a:xfrm>
            <a:off x="5193792" y="34290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614416" y="3557016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Промокоды и аналитика продаж</a:t>
            </a:r>
            <a:endParaRPr lang="en-US" dirty="0"/>
          </a:p>
        </p:txBody>
      </p:sp>
      <p:sp>
        <p:nvSpPr>
          <p:cNvPr id="37" name="Shape 31"/>
          <p:cNvSpPr/>
          <p:nvPr/>
        </p:nvSpPr>
        <p:spPr>
          <a:xfrm>
            <a:off x="5193792" y="4151376"/>
            <a:ext cx="3721608" cy="594360"/>
          </a:xfrm>
          <a:prstGeom prst="roundRect">
            <a:avLst>
              <a:gd name="adj" fmla="val 13846"/>
            </a:avLst>
          </a:prstGeom>
          <a:solidFill>
            <a:srgbClr val="1A1A1A"/>
          </a:solidFill>
          <a:ln/>
          <a:effectLst>
            <a:outerShdw blurRad="304800" dist="50800" dir="27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193792" y="4151376"/>
            <a:ext cx="320040" cy="594360"/>
          </a:xfrm>
          <a:prstGeom prst="roundRect">
            <a:avLst>
              <a:gd name="adj" fmla="val 25714"/>
            </a:avLst>
          </a:prstGeom>
          <a:solidFill>
            <a:srgbClr val="7C3AED"/>
          </a:solidFill>
          <a:ln/>
        </p:spPr>
      </p:sp>
      <p:sp>
        <p:nvSpPr>
          <p:cNvPr id="39" name="Text 33"/>
          <p:cNvSpPr/>
          <p:nvPr/>
        </p:nvSpPr>
        <p:spPr>
          <a:xfrm>
            <a:off x="5193792" y="4151376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614416" y="4279392"/>
            <a:ext cx="31821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UX/UI интерфейса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688" y="403760"/>
            <a:ext cx="5646717" cy="3283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</a:t>
            </a:r>
            <a:endParaRPr lang="en-US" sz="7200" dirty="0"/>
          </a:p>
          <a:p>
            <a:pPr marL="0" indent="0" algn="ctr">
              <a:buNone/>
            </a:pPr>
            <a:r>
              <a:rPr lang="en-US" sz="7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</a:t>
            </a:r>
            <a:r>
              <a:rPr lang="en-US" sz="7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7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970" y="610152"/>
            <a:ext cx="3426031" cy="3426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426</Words>
  <Application>Microsoft Office PowerPoint</Application>
  <PresentationFormat>Экран (16:9)</PresentationFormat>
  <Paragraphs>124</Paragraphs>
  <Slides>9</Slides>
  <Notes>8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Evgenii</dc:creator>
  <cp:lastModifiedBy>Evgenii</cp:lastModifiedBy>
  <cp:revision>13</cp:revision>
  <dcterms:created xsi:type="dcterms:W3CDTF">2026-06-24T18:53:10Z</dcterms:created>
  <dcterms:modified xsi:type="dcterms:W3CDTF">2026-06-24T20:18:31Z</dcterms:modified>
</cp:coreProperties>
</file>